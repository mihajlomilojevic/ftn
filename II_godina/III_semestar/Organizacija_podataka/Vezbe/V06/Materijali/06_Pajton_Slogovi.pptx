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8vubb5X7A0M55EjwjwAAjIzvs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631548-C7AD-47FD-9ED5-C33EA6C3F194}" v="10" dt="2022-11-16T08:28:04.756"/>
  </p1510:revLst>
</p1510:revInfo>
</file>

<file path=ppt/tableStyles.xml><?xml version="1.0" encoding="utf-8"?>
<a:tblStyleLst xmlns:a="http://schemas.openxmlformats.org/drawingml/2006/main" def="{97206D0B-8521-4887-BFA0-6BFEED546B21}">
  <a:tblStyle styleId="{97206D0B-8521-4887-BFA0-6BFEED546B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Todorovic" userId="IyAUe+CMaMaGWD4jKroiRQL7nNDqY3E2hmpRmq4OjOs=" providerId="None" clId="Web-{91631548-C7AD-47FD-9ED5-C33EA6C3F194}"/>
    <pc:docChg chg="modSld">
      <pc:chgData name="Nikola Todorovic" userId="IyAUe+CMaMaGWD4jKroiRQL7nNDqY3E2hmpRmq4OjOs=" providerId="None" clId="Web-{91631548-C7AD-47FD-9ED5-C33EA6C3F194}" dt="2022-11-16T08:28:02.490" v="10" actId="20577"/>
      <pc:docMkLst>
        <pc:docMk/>
      </pc:docMkLst>
      <pc:sldChg chg="modSp">
        <pc:chgData name="Nikola Todorovic" userId="IyAUe+CMaMaGWD4jKroiRQL7nNDqY3E2hmpRmq4OjOs=" providerId="None" clId="Web-{91631548-C7AD-47FD-9ED5-C33EA6C3F194}" dt="2022-11-16T08:28:02.490" v="10" actId="20577"/>
        <pc:sldMkLst>
          <pc:docMk/>
          <pc:sldMk cId="0" sldId="256"/>
        </pc:sldMkLst>
        <pc:spChg chg="mod">
          <ac:chgData name="Nikola Todorovic" userId="IyAUe+CMaMaGWD4jKroiRQL7nNDqY3E2hmpRmq4OjOs=" providerId="None" clId="Web-{91631548-C7AD-47FD-9ED5-C33EA6C3F194}" dt="2022-11-16T08:28:02.490" v="10" actId="20577"/>
          <ac:spMkLst>
            <pc:docMk/>
            <pc:sldMk cId="0" sldId="256"/>
            <ac:spMk id="8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fbb159c7b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fbb159c7b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bb159c7b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bb159c7b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bb159c7b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fbb159c7b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fbb159c7b5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fbb159c7b5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fbb159c7b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fbb159c7b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fbb159c7b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fbb159c7b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bb159c7b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bb159c7b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fbb159c7b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fbb159c7b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fbb159c7b5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fbb159c7b5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03427b48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03427b48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762000" y="1143000"/>
            <a:ext cx="7772400" cy="162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sz="3600"/>
              <a:t>Fakultet tehničkih nauka, DRA, Novi Sad</a:t>
            </a:r>
            <a:br>
              <a:rPr sz="3600"/>
            </a:br>
            <a:br>
              <a:rPr sz="3600"/>
            </a:br>
            <a:r>
              <a:rPr sz="3600"/>
              <a:t>Predmet:</a:t>
            </a:r>
            <a:br>
              <a:rPr sz="3600"/>
            </a:br>
            <a:r>
              <a:rPr sz="3600"/>
              <a:t>Organizacija podataka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dirty="0">
                <a:solidFill>
                  <a:schemeClr val="dk1"/>
                </a:solidFill>
              </a:rPr>
              <a:t>Dr Vladimir Ivančević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dirty="0">
                <a:solidFill>
                  <a:schemeClr val="dk1"/>
                </a:solidFill>
              </a:rPr>
              <a:t>Vladimir Ivković</a:t>
            </a:r>
          </a:p>
          <a:p>
            <a:pPr marL="0" lvl="0" indent="0" algn="ctr" rtl="0">
              <a:lnSpc>
                <a:spcPct val="10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dirty="0">
                <a:solidFill>
                  <a:schemeClr val="dk1"/>
                </a:solidFill>
              </a:rPr>
              <a:t>Nikola Todorović</a:t>
            </a:r>
          </a:p>
          <a:p>
            <a:pPr marL="0" indent="0">
              <a:spcBef>
                <a:spcPts val="544"/>
              </a:spcBef>
            </a:pPr>
            <a:r>
              <a:rPr lang="en-US" dirty="0">
                <a:solidFill>
                  <a:schemeClr val="dk1"/>
                </a:solidFill>
              </a:rPr>
              <a:t>Vladimir Jovanović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>Biblioteka Struct u programskom jeziku </a:t>
            </a:r>
            <a:r>
              <a:rPr i="1"/>
              <a:t>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>STRUKTURIRANE BINARNE DATOTEKE</a:t>
            </a:r>
          </a:p>
        </p:txBody>
      </p:sp>
      <p:sp>
        <p:nvSpPr>
          <p:cNvPr id="96" name="Google Shape;96;p3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fbb159c7b5_0_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i="1"/>
              <a:t>struct </a:t>
            </a:r>
            <a:r>
              <a:t>tip u programskom jeziku C</a:t>
            </a:r>
            <a:endParaRPr i="1"/>
          </a:p>
        </p:txBody>
      </p:sp>
      <p:sp>
        <p:nvSpPr>
          <p:cNvPr id="102" name="Google Shape;102;gfbb159c7b5_0_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04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Strukture (slogovi) u programskom jeziku C predstavljaju složeni, korisnički definisan tip podataka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Komponente (polja) strukture su imenovana i mogu biti različitog tipa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Primer definisanja strukture: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691">
                <a:latin typeface="Consolas"/>
                <a:ea typeface="Consolas"/>
                <a:cs typeface="Consolas"/>
                <a:sym typeface="Consolas"/>
              </a:rPr>
              <a:t>struct student {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691">
                <a:latin typeface="Consolas"/>
                <a:ea typeface="Consolas"/>
                <a:cs typeface="Consolas"/>
                <a:sym typeface="Consolas"/>
              </a:rPr>
              <a:t>    char index[12];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691">
                <a:latin typeface="Consolas"/>
                <a:ea typeface="Consolas"/>
                <a:cs typeface="Consolas"/>
                <a:sym typeface="Consolas"/>
              </a:rPr>
              <a:t>    char ime[16];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691">
                <a:latin typeface="Consolas"/>
                <a:ea typeface="Consolas"/>
                <a:cs typeface="Consolas"/>
                <a:sym typeface="Consolas"/>
              </a:rPr>
              <a:t>    char prezime[16];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691">
                <a:latin typeface="Consolas"/>
                <a:ea typeface="Consolas"/>
                <a:cs typeface="Consolas"/>
                <a:sym typeface="Consolas"/>
              </a:rPr>
              <a:t>    int godinaStudija;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691">
                <a:latin typeface="Consolas"/>
                <a:ea typeface="Consolas"/>
                <a:cs typeface="Consolas"/>
                <a:sym typeface="Consolas"/>
              </a:rPr>
              <a:t>	};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bb159c7b5_0_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Modul </a:t>
            </a:r>
            <a:r>
              <a:rPr i="1"/>
              <a:t>struct</a:t>
            </a:r>
          </a:p>
        </p:txBody>
      </p:sp>
      <p:sp>
        <p:nvSpPr>
          <p:cNvPr id="108" name="Google Shape;108;gfbb159c7b5_0_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47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Modul </a:t>
            </a:r>
            <a:r>
              <a:rPr i="1"/>
              <a:t>struct </a:t>
            </a:r>
            <a:r>
              <a:t>omogućava konverziju između Pajton objekata i C struktura koje su predstavljene kao </a:t>
            </a:r>
            <a:r>
              <a:rPr i="1"/>
              <a:t>bytes </a:t>
            </a:r>
            <a:r>
              <a:t>objekti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Koriste se formatni stringovi za opis načina pakovanja/raspakivanja vrednosti promenljivih (polja strutkure) u bajtove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Koristeći </a:t>
            </a:r>
            <a:r>
              <a:rPr i="1"/>
              <a:t>struct </a:t>
            </a:r>
            <a:r>
              <a:t>modul ,moguće je binarnu datoteku kreirati u Pajtonu, a čitati u C-u i obrnuto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fbb159c7b5_0_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Modul </a:t>
            </a:r>
            <a:r>
              <a:rPr i="1"/>
              <a:t>struct</a:t>
            </a:r>
          </a:p>
        </p:txBody>
      </p:sp>
      <p:sp>
        <p:nvSpPr>
          <p:cNvPr id="114" name="Google Shape;114;gfbb159c7b5_0_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Glavne funkcije </a:t>
            </a:r>
            <a:r>
              <a:rPr i="1"/>
              <a:t>struct </a:t>
            </a:r>
            <a:r>
              <a:t>modula su: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i="1"/>
              <a:t>struct.pack(format, v1, v2, ...)</a:t>
            </a:r>
            <a:r>
              <a:t> koristi se za pakovanje vrednosti promeljivih v1, v2, … na način specificiran formatnim stringom u niz bajtova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i="1"/>
              <a:t>struct.unpack(format, buffer)</a:t>
            </a:r>
            <a:r>
              <a:t> vraća torku (</a:t>
            </a:r>
            <a:r>
              <a:rPr i="1"/>
              <a:t>tuple</a:t>
            </a:r>
            <a:r>
              <a:t>) dobijenu raspakivanjem promenljive </a:t>
            </a:r>
            <a:r>
              <a:rPr i="1"/>
              <a:t>buffer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rPr i="1"/>
              <a:t>struct.calcsize(format)</a:t>
            </a:r>
            <a:r>
              <a:t> određuje veličinu strukture (u bajtovima) opisane formatnim stringom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fbb159c7b5_0_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Formatni string</a:t>
            </a:r>
          </a:p>
        </p:txBody>
      </p:sp>
      <p:sp>
        <p:nvSpPr>
          <p:cNvPr id="120" name="Google Shape;120;gfbb159c7b5_0_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34327" algn="l" rtl="0">
              <a:spcBef>
                <a:spcPts val="360"/>
              </a:spcBef>
              <a:spcAft>
                <a:spcPts val="0"/>
              </a:spcAft>
              <a:buSzPct val="56250"/>
              <a:buChar char="●"/>
            </a:pPr>
            <a:r>
              <a:t>Formatnim stringom se specificira na koji način će vrednosti promenljivih biti spakovane/raspakovane u/iz niza bajtova</a:t>
            </a: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56250"/>
              <a:buChar char="●"/>
            </a:pPr>
            <a:r>
              <a:t>Primer formatnog string:</a:t>
            </a:r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64285"/>
              <a:buFont typeface="Consolas"/>
              <a:buChar char="–"/>
            </a:pPr>
            <a:r>
              <a:rPr>
                <a:latin typeface="Consolas"/>
                <a:ea typeface="Consolas"/>
                <a:cs typeface="Consolas"/>
                <a:sym typeface="Consolas"/>
              </a:rPr>
              <a:t>pack('hhl', 1, 2, 3)</a:t>
            </a:r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64285"/>
              <a:buFont typeface="Consolas"/>
              <a:buChar char="–"/>
            </a:pPr>
            <a:r>
              <a:rPr>
                <a:latin typeface="Consolas"/>
                <a:ea typeface="Consolas"/>
                <a:cs typeface="Consolas"/>
                <a:sym typeface="Consolas"/>
              </a:rPr>
              <a:t>pack('ci', b'*', 0x12131415)</a:t>
            </a:r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64285"/>
              <a:buFont typeface="Consolas"/>
              <a:buChar char="–"/>
            </a:pPr>
            <a:r>
              <a:rPr>
                <a:latin typeface="Consolas"/>
                <a:ea typeface="Consolas"/>
                <a:cs typeface="Consolas"/>
                <a:sym typeface="Consolas"/>
              </a:rPr>
              <a:t>pack('i7s', 1234, b"test")</a:t>
            </a:r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64285"/>
              <a:buFont typeface="Consolas"/>
              <a:buChar char="–"/>
            </a:pPr>
            <a:r>
              <a:rPr>
                <a:latin typeface="Consolas"/>
                <a:ea typeface="Consolas"/>
                <a:cs typeface="Consolas"/>
                <a:sym typeface="Consolas"/>
              </a:rPr>
              <a:t>calcsize('ci')</a:t>
            </a:r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56250"/>
              <a:buFont typeface="Calibri"/>
              <a:buChar char="●"/>
            </a:pPr>
            <a:r>
              <a:t>Kada formatni string specificira čuvanje string vrednosti, mora se eksplicitno naglasiti maksimalni broj karaktera u stringu</a:t>
            </a:r>
          </a:p>
          <a:p>
            <a:pPr marL="914400" lvl="1" indent="-334327" algn="l" rtl="0">
              <a:spcBef>
                <a:spcPts val="0"/>
              </a:spcBef>
              <a:spcAft>
                <a:spcPts val="0"/>
              </a:spcAft>
              <a:buSzPct val="64285"/>
              <a:buChar char="–"/>
            </a:pPr>
            <a:r>
              <a:t>Zbog načina na koji se stringovi čuvaju u C-u, ovu vrednost bi uvek trebalo dodatno </a:t>
            </a:r>
            <a:r>
              <a:rPr b="1"/>
              <a:t>uvećati za 1</a:t>
            </a:r>
          </a:p>
          <a:p>
            <a:pPr marL="1371600" lvl="2" indent="-334327" algn="l" rtl="0">
              <a:spcBef>
                <a:spcPts val="0"/>
              </a:spcBef>
              <a:spcAft>
                <a:spcPts val="0"/>
              </a:spcAft>
              <a:buSzPct val="75000"/>
              <a:buChar char="•"/>
            </a:pPr>
            <a:r>
              <a:t>Prostor za karakter </a:t>
            </a:r>
            <a:r>
              <a:rPr i="1"/>
              <a:t>\0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fbb159c7b5_0_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Formatni string</a:t>
            </a:r>
          </a:p>
        </p:txBody>
      </p:sp>
      <p:graphicFrame>
        <p:nvGraphicFramePr>
          <p:cNvPr id="126" name="Google Shape;126;gfbb159c7b5_0_36"/>
          <p:cNvGraphicFramePr/>
          <p:nvPr/>
        </p:nvGraphicFramePr>
        <p:xfrm>
          <a:off x="1547213" y="1309250"/>
          <a:ext cx="6049575" cy="5311264"/>
        </p:xfrm>
        <a:graphic>
          <a:graphicData uri="http://schemas.openxmlformats.org/drawingml/2006/table">
            <a:tbl>
              <a:tblPr>
                <a:noFill/>
                <a:tableStyleId>{97206D0B-8521-4887-BFA0-6BFEED546B21}</a:tableStyleId>
              </a:tblPr>
              <a:tblGrid>
                <a:gridCol w="113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highlight>
                            <a:schemeClr val="lt2"/>
                          </a:highlight>
                        </a:rPr>
                        <a:t>Format</a:t>
                      </a: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highlight>
                            <a:schemeClr val="lt2"/>
                          </a:highlight>
                        </a:rPr>
                        <a:t>C Type</a:t>
                      </a: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highlight>
                            <a:schemeClr val="lt2"/>
                          </a:highlight>
                        </a:rPr>
                        <a:t>Python type</a:t>
                      </a: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 b="1">
                          <a:highlight>
                            <a:schemeClr val="lt2"/>
                          </a:highlight>
                        </a:rPr>
                        <a:t>Standard size</a:t>
                      </a:r>
                    </a:p>
                  </a:txBody>
                  <a:tcPr marL="91425" marR="91425" marT="91425" marB="91425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x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pad byte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no value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c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char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bytes of length 1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signed char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integer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?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_Bool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bool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1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h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short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integer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2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int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integer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l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long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integer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q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long long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integer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8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f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float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float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4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d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double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float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8</a:t>
                      </a: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char[]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bytes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p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char[]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>bytes</a:t>
                      </a: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bb159c7b5_0_4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Primer 1</a:t>
            </a:r>
          </a:p>
        </p:txBody>
      </p:sp>
      <p:sp>
        <p:nvSpPr>
          <p:cNvPr id="132" name="Google Shape;132;gfbb159c7b5_0_4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Zadatu CSV datoteku pročitati i njen sadržaj smestiti u binarnu datoteku 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slogovi bi trebalo da odgovaraju redovima ulazne datoteke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Kolone iz CSV datoteke: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Username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Identifier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First name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Last 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fbb159c7b5_0_5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Primer 2</a:t>
            </a:r>
          </a:p>
        </p:txBody>
      </p:sp>
      <p:sp>
        <p:nvSpPr>
          <p:cNvPr id="138" name="Google Shape;138;gfbb159c7b5_0_5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Binarnu datoteku, formiranu u prethodnom primeru, pročitati i ispisati sadržaj 2. i 5. sloga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fbb159c7b5_0_5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Zadatak 1</a:t>
            </a:r>
          </a:p>
        </p:txBody>
      </p:sp>
      <p:sp>
        <p:nvSpPr>
          <p:cNvPr id="144" name="Google Shape;144;gfbb159c7b5_0_5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093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Niz 2D tačaka dat je u ulaznoj tekstualnoj datoteci:</a:t>
            </a:r>
            <a:br>
              <a:rPr/>
            </a:br>
            <a:r>
              <a:rPr sz="2000"/>
              <a:t>1.23 -6.87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000"/>
              <a:t>12.45 -0.56</a:t>
            </a:r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000"/>
              <a:t>34.55 82.04</a:t>
            </a:r>
          </a:p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Učitati dati niz i njegov sadržaj sačuvati u izlaznu binarnu datoteku, s tim što bi na početku datoteke trebalo da se nađe i zaglavlje sa dve celobrojne vrednosti: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broj tačaka, 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dimenzionalnost tačaka (u ovom slučaju 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fbb159c7b5_0_6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Zadatak 2</a:t>
            </a:r>
          </a:p>
        </p:txBody>
      </p:sp>
      <p:sp>
        <p:nvSpPr>
          <p:cNvPr id="150" name="Google Shape;150;gfbb159c7b5_0_6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Binarnu datoteku kreiranu u prethodnom zadatku učitati koristeći podatke iz zaglavlja tj. bez prethodnog znanja o broj tačaka i njihovoj dimenzionalnosti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Izračunati težište (centroid) niza tačaka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>Izmeniti Zadatak 1 tako da radi sa nizom 3D tačaka, pa testirati rešenje Zadatka 2 sa novom binarnom datotekom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03427b4837_0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t>Zadatak 3</a:t>
            </a:r>
          </a:p>
        </p:txBody>
      </p:sp>
      <p:sp>
        <p:nvSpPr>
          <p:cNvPr id="156" name="Google Shape;156;g103427b4837_0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t>Pročitati sadržaj binarne datoteke </a:t>
            </a:r>
            <a:r>
              <a:rPr i="1"/>
              <a:t>username.bin </a:t>
            </a:r>
            <a:r>
              <a:t>na sledeći način: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Smatrati da je datoteka podeljena u blokove, s faktorom blokiranja 3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Pročitati drugi blok, (koji čine poslednja 3 sloga)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Iz pročitanog bloka izdvojiti podatke o slogovima, dekodirati ih, i prikazati na ekranu</a:t>
            </a: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–"/>
            </a:pPr>
            <a:r>
              <a:t>Očekivani ispis programa:</a:t>
            </a:r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266">
                <a:latin typeface="Consolas"/>
                <a:ea typeface="Consolas"/>
                <a:cs typeface="Consolas"/>
                <a:sym typeface="Consolas"/>
              </a:rPr>
              <a:t>['jenkins46', 9346, 'Mary', 'Jenkins']</a:t>
            </a:r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266">
                <a:latin typeface="Consolas"/>
                <a:ea typeface="Consolas"/>
                <a:cs typeface="Consolas"/>
                <a:sym typeface="Consolas"/>
              </a:rPr>
              <a:t>['smith79', 5079, 'Jamie', 'Smith']</a:t>
            </a:r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sz="2266">
                <a:latin typeface="Consolas"/>
                <a:ea typeface="Consolas"/>
                <a:cs typeface="Consolas"/>
                <a:sym typeface="Consolas"/>
              </a:rPr>
              <a:t>['vlad58', 5858, 'Vlad', 'Nevski']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13</Slides>
  <Notes>13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Fakultet tehničkih nauka, DRA, Novi Sad  Predmet: Organizacija podataka</vt:lpstr>
      <vt:lpstr>Biblioteka Struct u programskom jeziku Python</vt:lpstr>
      <vt:lpstr>STRUKTURIRANE BINARNE DATOTEKE</vt:lpstr>
      <vt:lpstr>struct tip u programskom jeziku C</vt:lpstr>
      <vt:lpstr>Modul struct</vt:lpstr>
      <vt:lpstr>Modul struct</vt:lpstr>
      <vt:lpstr>Formatni string</vt:lpstr>
      <vt:lpstr>Formatni string</vt:lpstr>
      <vt:lpstr>Primer 1</vt:lpstr>
      <vt:lpstr>Primer 2</vt:lpstr>
      <vt:lpstr>Zadatak 1</vt:lpstr>
      <vt:lpstr>Zadatak 2</vt:lpstr>
      <vt:lpstr>Zadatak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Fakultet tehničkih nauka, DRA, Novi Sad  Predmet: Organizacija podataka</dc:title>
  <dc:creator>vdimitrieski</dc:creator>
  <cp:revision>3</cp:revision>
  <dcterms:created xsi:type="dcterms:W3CDTF">2006-08-16T00:00:00Z</dcterms:created>
  <dcterms:modified xsi:type="dcterms:W3CDTF">2022-11-16T08:28:06Z</dcterms:modified>
</cp:coreProperties>
</file>